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161bfce004e6b" /><Relationship Type="http://schemas.openxmlformats.org/officeDocument/2006/relationships/extended-properties" Target="/docProps/app.xml" Id="R3006d6f4ec364be4" /><Relationship Type="http://schemas.openxmlformats.org/officeDocument/2006/relationships/officeDocument" Target="/ppt/presentation.xml" Id="Rbce6091af98043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d63c1d610401d"/>
  </p:sldMasterIdLst>
  <p:notesMasterIdLst>
    <p:notesMasterId xmlns:r="http://schemas.openxmlformats.org/officeDocument/2006/relationships" r:id="R02416e65e0894d61"/>
  </p:notesMasterIdLst>
  <p:sldIdLst>
    <p:sldId xmlns:r="http://schemas.openxmlformats.org/officeDocument/2006/relationships" id="256" r:id="R9998addd761b4680"/>
    <p:sldId xmlns:r="http://schemas.openxmlformats.org/officeDocument/2006/relationships" id="257" r:id="R2f2d2bc175164962"/>
    <p:sldId xmlns:r="http://schemas.openxmlformats.org/officeDocument/2006/relationships" id="258" r:id="R18d2bb0d2ba2467a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f7cce00364df2" /><Relationship Type="http://schemas.openxmlformats.org/officeDocument/2006/relationships/slideMaster" Target="/ppt/slideMasters/slideMaster1.xml" Id="R749d63c1d610401d" /><Relationship Type="http://schemas.openxmlformats.org/officeDocument/2006/relationships/notesMaster" Target="/ppt/notesMasters/notesMaster1.xml" Id="R02416e65e0894d61" /><Relationship Type="http://schemas.openxmlformats.org/officeDocument/2006/relationships/presProps" Target="/ppt/presProps.xml" Id="R5cbbf5c0ca2941e1" /><Relationship Type="http://schemas.openxmlformats.org/officeDocument/2006/relationships/tableStyles" Target="/ppt/tableStyles.xml" Id="R89ccf46e08d449b6" /><Relationship Type="http://schemas.openxmlformats.org/officeDocument/2006/relationships/slide" Target="/ppt/slides/slide1.xml" Id="R9998addd761b4680" /><Relationship Type="http://schemas.openxmlformats.org/officeDocument/2006/relationships/slide" Target="/ppt/slides/slide2.xml" Id="R2f2d2bc175164962" /><Relationship Type="http://schemas.openxmlformats.org/officeDocument/2006/relationships/slide" Target="/ppt/slides/slide3.xml" Id="R18d2bb0d2ba246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70b399640e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69d60ac8145e1" /><Relationship Type="http://schemas.openxmlformats.org/officeDocument/2006/relationships/notesMaster" Target="/ppt/notesMasters/notesMaster1.xml" Id="R39ea30dfe8c2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c6b369eb34640" /><Relationship Type="http://schemas.openxmlformats.org/officeDocument/2006/relationships/notesMaster" Target="/ppt/notesMasters/notesMaster1.xml" Id="R8a41fda6715e4c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3e175ae1846fa" /><Relationship Type="http://schemas.openxmlformats.org/officeDocument/2006/relationships/notesMaster" Target="/ppt/notesMasters/notesMaster1.xml" Id="Rf621f33e386a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2d2aeb6c4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54c5f1cf646f0" /><Relationship Type="http://schemas.openxmlformats.org/officeDocument/2006/relationships/slideLayout" Target="/ppt/slideLayouts/slideLayout1.xml" Id="R385a01eed63c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a01eed63c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154e99abc4cb2" /><Relationship Type="http://schemas.openxmlformats.org/officeDocument/2006/relationships/notesSlide" Target="/ppt/notesSlides/notesSlide1.xml" Id="R6ee827adb94f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3a7968084187" /><Relationship Type="http://schemas.openxmlformats.org/officeDocument/2006/relationships/notesSlide" Target="/ppt/notesSlides/notesSlide2.xml" Id="Rcc273ab98c4e4e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3665812af43e9" /><Relationship Type="http://schemas.openxmlformats.org/officeDocument/2006/relationships/notesSlide" Target="/ppt/notesSlides/notesSlide3.xml" Id="R0018b1bce6854e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8BF10851-6947-4EF9-A06C-8D565233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DEVICE DRIVER ·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9146B4-53E9-4B3F-A04E-20828BB4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1188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1412"/>
                </a:solidFill>
              </a:defRPr>
            </a:pPr>
            <a:r>
              <a:rPr sz="3975" b="1">
                <a:solidFill>
                  <a:srgbClr val="171412"/>
                </a:solidFill>
              </a:rPr>
              <a:t>사용자 앱과 CC1101을 하나의 장치로 연결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5181B9F-5ED4-4503-B18C-3F497DE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948D"/>
                </a:solidFill>
              </a:defRPr>
            </a:pPr>
            <a:r>
              <a:rPr sz="1050" b="0">
                <a:solidFill>
                  <a:srgbClr val="9A948D"/>
                </a:solidFill>
              </a:rPr>
              <a:t>FHSS-OTA Radio · Device Driver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31BEB81-E180-4D8F-BC58-B619D130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48D"/>
                </a:solidFill>
              </a:defRPr>
            </a:pPr>
            <a:r>
              <a:rPr sz="1050" b="1">
                <a:solidFill>
                  <a:srgbClr val="9A948D"/>
                </a:solidFill>
              </a:rPr>
              <a:t>1</a:t>
            </a:r>
          </a:p>
        </p:txBody>
      </p:sp>
      <p:sp>
        <p:nvSpPr>
          <p:cNvPr id="5" name="arch-box-0">
            <a:extLst xmlns:a="http://schemas.openxmlformats.org/drawingml/2006/main">
              <a:ext uri="{FF2B5EF4-FFF2-40B4-BE49-F238E27FC236}">
                <a16:creationId xmlns:a16="http://schemas.microsoft.com/office/drawing/2014/main" id="{0B398ED5-9AB3-448F-87E4-B858E532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412"/>
            </a:solidFill>
            <a:prstDash val="solid"/>
          </a:ln>
        </p:spPr>
      </p:sp>
      <p:sp>
        <p:nvSpPr>
          <p:cNvPr id="6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AA60DBAC-ABB0-4AE3-9BEE-FD2A3EE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412"/>
                </a:solidFill>
              </a:defRPr>
            </a:pPr>
            <a:r>
              <a:rPr sz="1725" b="1">
                <a:solidFill>
                  <a:srgbClr val="171412"/>
                </a:solidFill>
              </a:rPr>
              <a:t>Gateway App</a:t>
            </a:r>
          </a:p>
        </p:txBody>
      </p:sp>
      <p:sp>
        <p:nvSpPr>
          <p:cNvPr id="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56BEC967-B5F7-4D50-9F47-59279E8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open · read · write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ioctl · poll</a:t>
            </a:r>
          </a:p>
        </p:txBody>
      </p:sp>
      <p:sp>
        <p:nvSpPr>
          <p:cNvPr id="8" name="arch-arrow-0-line">
            <a:extLst xmlns:a="http://schemas.openxmlformats.org/drawingml/2006/main">
              <a:ext uri="{FF2B5EF4-FFF2-40B4-BE49-F238E27FC236}">
                <a16:creationId xmlns:a16="http://schemas.microsoft.com/office/drawing/2014/main" id="{D5143ECC-1120-4289-855E-37F44324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arrow-0-head">
            <a:extLst xmlns:a="http://schemas.openxmlformats.org/drawingml/2006/main">
              <a:ext uri="{FF2B5EF4-FFF2-40B4-BE49-F238E27FC236}">
                <a16:creationId xmlns:a16="http://schemas.microsoft.com/office/drawing/2014/main" id="{85C3B5FC-7E68-4F04-9E1C-2AB80418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10" name="arch-box-1">
            <a:extLst xmlns:a="http://schemas.openxmlformats.org/drawingml/2006/main">
              <a:ext uri="{FF2B5EF4-FFF2-40B4-BE49-F238E27FC236}">
                <a16:creationId xmlns:a16="http://schemas.microsoft.com/office/drawing/2014/main" id="{3DB0754A-EBA9-46B6-8AFD-1A97A496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412"/>
            </a:solidFill>
            <a:prstDash val="solid"/>
          </a:ln>
        </p:spPr>
      </p:sp>
      <p:sp>
        <p:nvSpPr>
          <p:cNvPr id="11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7DC46D85-CEA9-4884-AEA1-B81D6BF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412"/>
                </a:solidFill>
              </a:defRPr>
            </a:pPr>
            <a:r>
              <a:rPr sz="1725" b="1">
                <a:solidFill>
                  <a:srgbClr val="171412"/>
                </a:solidFill>
              </a:rPr>
              <a:t>/dev/cc1101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6D3EBD51-EE89-455E-86AC-140C9EA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misc device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사용자/커널 경계</a:t>
            </a:r>
          </a:p>
        </p:txBody>
      </p:sp>
      <p:sp>
        <p:nvSpPr>
          <p:cNvPr id="13" name="arch-arrow-1-line">
            <a:extLst xmlns:a="http://schemas.openxmlformats.org/drawingml/2006/main">
              <a:ext uri="{FF2B5EF4-FFF2-40B4-BE49-F238E27FC236}">
                <a16:creationId xmlns:a16="http://schemas.microsoft.com/office/drawing/2014/main" id="{6C191AB0-3BD2-467A-B627-0F295384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9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arrow-1-head">
            <a:extLst xmlns:a="http://schemas.openxmlformats.org/drawingml/2006/main">
              <a:ext uri="{FF2B5EF4-FFF2-40B4-BE49-F238E27FC236}">
                <a16:creationId xmlns:a16="http://schemas.microsoft.com/office/drawing/2014/main" id="{A63A8338-0642-412E-90E1-4A08E4B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15" name="arch-box-2">
            <a:extLst xmlns:a="http://schemas.openxmlformats.org/drawingml/2006/main">
              <a:ext uri="{FF2B5EF4-FFF2-40B4-BE49-F238E27FC236}">
                <a16:creationId xmlns:a16="http://schemas.microsoft.com/office/drawing/2014/main" id="{1E4E9F90-6EA6-4BA5-B9AF-946D3C81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ED"/>
          </a:solidFill>
          <a:ln xmlns:a="http://schemas.openxmlformats.org/drawingml/2006/main" w="19050">
            <a:solidFill>
              <a:srgbClr val="C84308"/>
            </a:solidFill>
            <a:prstDash val="solid"/>
          </a:ln>
        </p:spPr>
      </p:sp>
      <p:sp>
        <p:nvSpPr>
          <p:cNvPr id="16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63CF0983-476B-402F-922F-9F7D78B1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308"/>
                </a:solidFill>
              </a:defRPr>
            </a:pPr>
            <a:r>
              <a:rPr sz="1725" b="1">
                <a:solidFill>
                  <a:srgbClr val="C84308"/>
                </a:solidFill>
              </a:rPr>
              <a:t>cc1101_main.c</a:t>
            </a:r>
          </a:p>
        </p:txBody>
      </p:sp>
      <p:sp>
        <p:nvSpPr>
          <p:cNvPr id="17" name="arch-body-2">
            <a:extLst xmlns:a="http://schemas.openxmlformats.org/drawingml/2006/main">
              <a:ext uri="{FF2B5EF4-FFF2-40B4-BE49-F238E27FC236}">
                <a16:creationId xmlns:a16="http://schemas.microsoft.com/office/drawing/2014/main" id="{DD76E371-3ADD-45DB-B830-CA0831F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file_operations · IRQ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TX completion · RX FIFO</a:t>
            </a:r>
          </a:p>
        </p:txBody>
      </p:sp>
      <p:sp>
        <p:nvSpPr>
          <p:cNvPr id="18" name="arch-arrow-2-line">
            <a:extLst xmlns:a="http://schemas.openxmlformats.org/drawingml/2006/main">
              <a:ext uri="{FF2B5EF4-FFF2-40B4-BE49-F238E27FC236}">
                <a16:creationId xmlns:a16="http://schemas.microsoft.com/office/drawing/2014/main" id="{444C9B1A-5EB2-4CE3-A384-94BBB08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-arrow-2-head">
            <a:extLst xmlns:a="http://schemas.openxmlformats.org/drawingml/2006/main">
              <a:ext uri="{FF2B5EF4-FFF2-40B4-BE49-F238E27FC236}">
                <a16:creationId xmlns:a16="http://schemas.microsoft.com/office/drawing/2014/main" id="{B4BA6ABC-DC58-45F0-A150-BB889E9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20" name="arch-box-3">
            <a:extLst xmlns:a="http://schemas.openxmlformats.org/drawingml/2006/main">
              <a:ext uri="{FF2B5EF4-FFF2-40B4-BE49-F238E27FC236}">
                <a16:creationId xmlns:a16="http://schemas.microsoft.com/office/drawing/2014/main" id="{B706554D-D978-4F37-81D1-3BE38793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412"/>
            </a:solidFill>
            <a:prstDash val="solid"/>
          </a:ln>
        </p:spPr>
      </p:sp>
      <p:sp>
        <p:nvSpPr>
          <p:cNvPr id="2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661D2DF4-CCD4-4187-951A-E9B75D9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412"/>
                </a:solidFill>
              </a:defRPr>
            </a:pPr>
            <a:r>
              <a:rPr sz="1725" b="1">
                <a:solidFill>
                  <a:srgbClr val="171412"/>
                </a:solidFill>
              </a:rPr>
              <a:t>cc1101_core.c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772C45AA-183A-4D00-B0E4-30193862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SPI · register · strobe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IDLE / RX / TX</a:t>
            </a:r>
          </a:p>
        </p:txBody>
      </p:sp>
      <p:sp>
        <p:nvSpPr>
          <p:cNvPr id="23" name="arch-arrow-3-line">
            <a:extLst xmlns:a="http://schemas.openxmlformats.org/drawingml/2006/main">
              <a:ext uri="{FF2B5EF4-FFF2-40B4-BE49-F238E27FC236}">
                <a16:creationId xmlns:a16="http://schemas.microsoft.com/office/drawing/2014/main" id="{B4F40A20-456F-40EC-8675-75AE70B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09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arrow-3-head">
            <a:extLst xmlns:a="http://schemas.openxmlformats.org/drawingml/2006/main">
              <a:ext uri="{FF2B5EF4-FFF2-40B4-BE49-F238E27FC236}">
                <a16:creationId xmlns:a16="http://schemas.microsoft.com/office/drawing/2014/main" id="{BBC1DFC3-731F-4540-9D8B-432DBFC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25" name="arch-box-4">
            <a:extLst xmlns:a="http://schemas.openxmlformats.org/drawingml/2006/main">
              <a:ext uri="{FF2B5EF4-FFF2-40B4-BE49-F238E27FC236}">
                <a16:creationId xmlns:a16="http://schemas.microsoft.com/office/drawing/2014/main" id="{8E7DDF1A-4285-4B49-8018-648DA1C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412"/>
            </a:solidFill>
            <a:prstDash val="solid"/>
          </a:ln>
        </p:spPr>
      </p:sp>
      <p:sp>
        <p:nvSpPr>
          <p:cNvPr id="26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1842E47B-8208-4419-8B08-5F480A78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495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412"/>
                </a:solidFill>
              </a:defRPr>
            </a:pPr>
            <a:r>
              <a:rPr sz="1725" b="1">
                <a:solidFill>
                  <a:srgbClr val="171412"/>
                </a:solidFill>
              </a:rPr>
              <a:t>CC1101</a:t>
            </a:r>
          </a:p>
        </p:txBody>
      </p:sp>
      <p:sp>
        <p:nvSpPr>
          <p:cNvPr id="27" name="arch-body-4">
            <a:extLst xmlns:a="http://schemas.openxmlformats.org/drawingml/2006/main">
              <a:ext uri="{FF2B5EF4-FFF2-40B4-BE49-F238E27FC236}">
                <a16:creationId xmlns:a16="http://schemas.microsoft.com/office/drawing/2014/main" id="{BA99C814-5ADE-4C74-B5AC-A51E2BDF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524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Sub-1GHz RF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GDO0 · GDO2</a:t>
            </a:r>
          </a:p>
        </p:txBody>
      </p:sp>
      <p:sp>
        <p:nvSpPr>
          <p:cNvPr id="28" name="principle-accent">
            <a:extLst xmlns:a="http://schemas.openxmlformats.org/drawingml/2006/main">
              <a:ext uri="{FF2B5EF4-FFF2-40B4-BE49-F238E27FC236}">
                <a16:creationId xmlns:a16="http://schemas.microsoft.com/office/drawing/2014/main" id="{0BAFAE08-0CFF-4639-8704-199AD5E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AF4C18C9-6F7C-4BC5-8A07-C1BFFD5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308"/>
                </a:solidFill>
              </a:defRPr>
            </a:pPr>
            <a:r>
              <a:rPr sz="1350" b="1">
                <a:solidFill>
                  <a:srgbClr val="C84308"/>
                </a:solidFill>
              </a:rPr>
              <a:t>설계 원칙</a:t>
            </a:r>
          </a:p>
        </p:txBody>
      </p:sp>
      <p:sp>
        <p:nvSpPr>
          <p:cNvPr id="30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19FAE37A-1790-4161-8D01-8AC2707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412"/>
                </a:solidFill>
              </a:defRPr>
            </a:pPr>
            <a:r>
              <a:rPr sz="1875" b="0">
                <a:solidFill>
                  <a:srgbClr val="171412"/>
                </a:solidFill>
              </a:rPr>
              <a:t>앱은 패킷만 read/write하고, SPI·FIFO·채널 전환·SYNC는 드라이버가 담당한다.</a:t>
            </a:r>
          </a:p>
        </p:txBody>
      </p:sp>
    </p:spTree>
    <p:extLst>
      <p:ext uri="{BB962C8B-B14F-4D97-AF65-F5344CB8AC3E}">
        <p14:creationId xmlns:p14="http://schemas.microsoft.com/office/powerpoint/2010/main" val="2100848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5BE3F10E-A64E-4CCF-8947-C8FC7699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DEVICE DRIVER · FHSS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67F3B4-7A0D-4833-971E-E82DF42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1188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1412"/>
                </a:solidFill>
              </a:defRPr>
            </a:pPr>
            <a:r>
              <a:rPr sz="3975" b="1">
                <a:solidFill>
                  <a:srgbClr val="171412"/>
                </a:solidFill>
              </a:rPr>
              <a:t>커널이 300 ms마다 채널과 SYNC를 제어한다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F64C0B3-22D3-4045-A60D-B5BE538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948D"/>
                </a:solidFill>
              </a:defRPr>
            </a:pPr>
            <a:r>
              <a:rPr sz="1050" b="0">
                <a:solidFill>
                  <a:srgbClr val="9A948D"/>
                </a:solidFill>
              </a:rPr>
              <a:t>FHSS-OTA Radio · Device Driver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1BBB12C-CF34-486E-877C-081D8477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48D"/>
                </a:solidFill>
              </a:defRPr>
            </a:pPr>
            <a:r>
              <a:rPr sz="1050" b="1">
                <a:solidFill>
                  <a:srgbClr val="9A948D"/>
                </a:solidFill>
              </a:rPr>
              <a:t>2</a:t>
            </a:r>
          </a:p>
        </p:txBody>
      </p:sp>
      <p:sp>
        <p:nvSpPr>
          <p:cNvPr id="5" name="slot-0">
            <a:extLst xmlns:a="http://schemas.openxmlformats.org/drawingml/2006/main">
              <a:ext uri="{FF2B5EF4-FFF2-40B4-BE49-F238E27FC236}">
                <a16:creationId xmlns:a16="http://schemas.microsoft.com/office/drawing/2014/main" id="{D07E4E03-02A7-421D-840E-A03C0B43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ED"/>
          </a:solidFill>
          <a:ln xmlns:a="http://schemas.openxmlformats.org/drawingml/2006/main" w="19050">
            <a:solidFill>
              <a:srgbClr val="C84308"/>
            </a:solidFill>
            <a:prstDash val="solid"/>
          </a:ln>
        </p:spPr>
      </p:sp>
      <p:sp>
        <p:nvSpPr>
          <p:cNvPr id="6" name="slot-label-0">
            <a:extLst xmlns:a="http://schemas.openxmlformats.org/drawingml/2006/main">
              <a:ext uri="{FF2B5EF4-FFF2-40B4-BE49-F238E27FC236}">
                <a16:creationId xmlns:a16="http://schemas.microsoft.com/office/drawing/2014/main" id="{18B35BAF-C521-42F7-822E-67E01DC4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308"/>
                </a:solidFill>
              </a:defRPr>
            </a:pPr>
            <a:r>
              <a:rPr sz="1650" b="1">
                <a:solidFill>
                  <a:srgbClr val="C84308"/>
                </a:solidFill>
              </a:rPr>
              <a:t>slot 0 · CH 1</a:t>
            </a:r>
          </a:p>
        </p:txBody>
      </p:sp>
      <p:sp>
        <p:nvSpPr>
          <p:cNvPr id="7" name="guard-0">
            <a:extLst xmlns:a="http://schemas.openxmlformats.org/drawingml/2006/main">
              <a:ext uri="{FF2B5EF4-FFF2-40B4-BE49-F238E27FC236}">
                <a16:creationId xmlns:a16="http://schemas.microsoft.com/office/drawing/2014/main" id="{162D5689-43FB-42AC-92E2-00E1FDEE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30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ard-label-0">
            <a:extLst xmlns:a="http://schemas.openxmlformats.org/drawingml/2006/main">
              <a:ext uri="{FF2B5EF4-FFF2-40B4-BE49-F238E27FC236}">
                <a16:creationId xmlns:a16="http://schemas.microsoft.com/office/drawing/2014/main" id="{290530FA-50B8-4467-AC9D-382DA17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337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5ms</a:t>
            </a:r>
          </a:p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전환</a:t>
            </a:r>
          </a:p>
        </p:txBody>
      </p:sp>
      <p:sp>
        <p:nvSpPr>
          <p:cNvPr id="9" name="sync-0">
            <a:extLst xmlns:a="http://schemas.openxmlformats.org/drawingml/2006/main">
              <a:ext uri="{FF2B5EF4-FFF2-40B4-BE49-F238E27FC236}">
                <a16:creationId xmlns:a16="http://schemas.microsoft.com/office/drawing/2014/main" id="{0DE338F5-0BFF-42C4-B472-B4A53308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71825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ync-label-0">
            <a:extLst xmlns:a="http://schemas.openxmlformats.org/drawingml/2006/main">
              <a:ext uri="{FF2B5EF4-FFF2-40B4-BE49-F238E27FC236}">
                <a16:creationId xmlns:a16="http://schemas.microsoft.com/office/drawing/2014/main" id="{1D162B60-E1F7-46C9-8495-0FD80B7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09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SYNC</a:t>
            </a:r>
          </a:p>
        </p:txBody>
      </p:sp>
      <p:sp>
        <p:nvSpPr>
          <p:cNvPr id="11" name="data-0">
            <a:extLst xmlns:a="http://schemas.openxmlformats.org/drawingml/2006/main">
              <a:ext uri="{FF2B5EF4-FFF2-40B4-BE49-F238E27FC236}">
                <a16:creationId xmlns:a16="http://schemas.microsoft.com/office/drawing/2014/main" id="{B067C8DA-629A-402F-8CF5-F67BCCE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71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ta-label-0">
            <a:extLst xmlns:a="http://schemas.openxmlformats.org/drawingml/2006/main">
              <a:ext uri="{FF2B5EF4-FFF2-40B4-BE49-F238E27FC236}">
                <a16:creationId xmlns:a16="http://schemas.microsoft.com/office/drawing/2014/main" id="{D9C393A1-194C-4379-A6C7-534303D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997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DATA / ACK</a:t>
            </a:r>
          </a:p>
        </p:txBody>
      </p:sp>
      <p:sp>
        <p:nvSpPr>
          <p:cNvPr id="13" name="slot-1">
            <a:extLst xmlns:a="http://schemas.openxmlformats.org/drawingml/2006/main">
              <a:ext uri="{FF2B5EF4-FFF2-40B4-BE49-F238E27FC236}">
                <a16:creationId xmlns:a16="http://schemas.microsoft.com/office/drawing/2014/main" id="{73071063-1ABF-4505-A0DB-DAE3CE0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B"/>
            </a:solidFill>
            <a:prstDash val="solid"/>
          </a:ln>
        </p:spPr>
      </p:sp>
      <p:sp>
        <p:nvSpPr>
          <p:cNvPr id="14" name="slot-label-1">
            <a:extLst xmlns:a="http://schemas.openxmlformats.org/drawingml/2006/main">
              <a:ext uri="{FF2B5EF4-FFF2-40B4-BE49-F238E27FC236}">
                <a16:creationId xmlns:a16="http://schemas.microsoft.com/office/drawing/2014/main" id="{7DF502EC-F633-4020-A58B-F9AC82F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412"/>
                </a:solidFill>
              </a:defRPr>
            </a:pPr>
            <a:r>
              <a:rPr sz="1650" b="1">
                <a:solidFill>
                  <a:srgbClr val="171412"/>
                </a:solidFill>
              </a:rPr>
              <a:t>slot 1 · CH 7</a:t>
            </a:r>
          </a:p>
        </p:txBody>
      </p:sp>
      <p:sp>
        <p:nvSpPr>
          <p:cNvPr id="15" name="guard-1">
            <a:extLst xmlns:a="http://schemas.openxmlformats.org/drawingml/2006/main">
              <a:ext uri="{FF2B5EF4-FFF2-40B4-BE49-F238E27FC236}">
                <a16:creationId xmlns:a16="http://schemas.microsoft.com/office/drawing/2014/main" id="{CFE99310-5FBC-4B7B-8E43-4FCA6076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30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uard-label-1">
            <a:extLst xmlns:a="http://schemas.openxmlformats.org/drawingml/2006/main">
              <a:ext uri="{FF2B5EF4-FFF2-40B4-BE49-F238E27FC236}">
                <a16:creationId xmlns:a16="http://schemas.microsoft.com/office/drawing/2014/main" id="{CF906C57-4278-4C0E-BE87-B2170C1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337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5ms</a:t>
            </a:r>
          </a:p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전환</a:t>
            </a:r>
          </a:p>
        </p:txBody>
      </p:sp>
      <p:sp>
        <p:nvSpPr>
          <p:cNvPr id="17" name="sync-1">
            <a:extLst xmlns:a="http://schemas.openxmlformats.org/drawingml/2006/main">
              <a:ext uri="{FF2B5EF4-FFF2-40B4-BE49-F238E27FC236}">
                <a16:creationId xmlns:a16="http://schemas.microsoft.com/office/drawing/2014/main" id="{9D395D3C-0C7E-4FCA-99A0-D2B42D54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71825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ync-label-1">
            <a:extLst xmlns:a="http://schemas.openxmlformats.org/drawingml/2006/main">
              <a:ext uri="{FF2B5EF4-FFF2-40B4-BE49-F238E27FC236}">
                <a16:creationId xmlns:a16="http://schemas.microsoft.com/office/drawing/2014/main" id="{AA2C5C0A-DED5-478C-AF66-817EC4E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09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SYNC</a:t>
            </a:r>
          </a:p>
        </p:txBody>
      </p:sp>
      <p:sp>
        <p:nvSpPr>
          <p:cNvPr id="19" name="data-1">
            <a:extLst xmlns:a="http://schemas.openxmlformats.org/drawingml/2006/main">
              <a:ext uri="{FF2B5EF4-FFF2-40B4-BE49-F238E27FC236}">
                <a16:creationId xmlns:a16="http://schemas.microsoft.com/office/drawing/2014/main" id="{8895ADCE-C74C-4985-9C94-DFC5B0E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71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ata-label-1">
            <a:extLst xmlns:a="http://schemas.openxmlformats.org/drawingml/2006/main">
              <a:ext uri="{FF2B5EF4-FFF2-40B4-BE49-F238E27FC236}">
                <a16:creationId xmlns:a16="http://schemas.microsoft.com/office/drawing/2014/main" id="{72DDD2B5-033B-43E0-B417-279A1FE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997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DATA / ACK</a:t>
            </a:r>
          </a:p>
        </p:txBody>
      </p:sp>
      <p:sp>
        <p:nvSpPr>
          <p:cNvPr id="21" name="slot-2">
            <a:extLst xmlns:a="http://schemas.openxmlformats.org/drawingml/2006/main">
              <a:ext uri="{FF2B5EF4-FFF2-40B4-BE49-F238E27FC236}">
                <a16:creationId xmlns:a16="http://schemas.microsoft.com/office/drawing/2014/main" id="{A9F346B7-3BDF-4D27-A91A-E276386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B"/>
            </a:solidFill>
            <a:prstDash val="solid"/>
          </a:ln>
        </p:spPr>
      </p:sp>
      <p:sp>
        <p:nvSpPr>
          <p:cNvPr id="22" name="slot-label-2">
            <a:extLst xmlns:a="http://schemas.openxmlformats.org/drawingml/2006/main">
              <a:ext uri="{FF2B5EF4-FFF2-40B4-BE49-F238E27FC236}">
                <a16:creationId xmlns:a16="http://schemas.microsoft.com/office/drawing/2014/main" id="{DE5C4ECF-7D63-4969-8DB8-0D3D8C3A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412"/>
                </a:solidFill>
              </a:defRPr>
            </a:pPr>
            <a:r>
              <a:rPr sz="1650" b="1">
                <a:solidFill>
                  <a:srgbClr val="171412"/>
                </a:solidFill>
              </a:rPr>
              <a:t>slot 2 · CH 6</a:t>
            </a:r>
          </a:p>
        </p:txBody>
      </p:sp>
      <p:sp>
        <p:nvSpPr>
          <p:cNvPr id="23" name="guard-2">
            <a:extLst xmlns:a="http://schemas.openxmlformats.org/drawingml/2006/main">
              <a:ext uri="{FF2B5EF4-FFF2-40B4-BE49-F238E27FC236}">
                <a16:creationId xmlns:a16="http://schemas.microsoft.com/office/drawing/2014/main" id="{E665773F-7A42-4792-AD66-8443B77D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71825"/>
            <a:ext cx="30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uard-label-2">
            <a:extLst xmlns:a="http://schemas.openxmlformats.org/drawingml/2006/main">
              <a:ext uri="{FF2B5EF4-FFF2-40B4-BE49-F238E27FC236}">
                <a16:creationId xmlns:a16="http://schemas.microsoft.com/office/drawing/2014/main" id="{815193A1-D8EF-4392-AB38-61ED060A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337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5ms</a:t>
            </a:r>
          </a:p>
          <a:p xmlns:a="http://schemas.openxmlformats.org/drawingml/2006/main">
            <a:pPr algn="l">
              <a:defRPr sz="1125" b="1">
                <a:solidFill>
                  <a:srgbClr val="6F6A65"/>
                </a:solidFill>
              </a:defRPr>
            </a:pPr>
            <a:r>
              <a:rPr sz="1125" b="1">
                <a:solidFill>
                  <a:srgbClr val="6F6A65"/>
                </a:solidFill>
              </a:rPr>
              <a:t>전환</a:t>
            </a:r>
          </a:p>
        </p:txBody>
      </p:sp>
      <p:sp>
        <p:nvSpPr>
          <p:cNvPr id="25" name="sync-2">
            <a:extLst xmlns:a="http://schemas.openxmlformats.org/drawingml/2006/main">
              <a:ext uri="{FF2B5EF4-FFF2-40B4-BE49-F238E27FC236}">
                <a16:creationId xmlns:a16="http://schemas.microsoft.com/office/drawing/2014/main" id="{7DF39F06-AE5E-43A8-B562-0E8EF46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71825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ync-label-2">
            <a:extLst xmlns:a="http://schemas.openxmlformats.org/drawingml/2006/main">
              <a:ext uri="{FF2B5EF4-FFF2-40B4-BE49-F238E27FC236}">
                <a16:creationId xmlns:a16="http://schemas.microsoft.com/office/drawing/2014/main" id="{43C67EBB-4B7A-4444-959A-BDA0F0BB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609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SYNC</a:t>
            </a:r>
          </a:p>
        </p:txBody>
      </p:sp>
      <p:sp>
        <p:nvSpPr>
          <p:cNvPr id="27" name="data-2">
            <a:extLst xmlns:a="http://schemas.openxmlformats.org/drawingml/2006/main">
              <a:ext uri="{FF2B5EF4-FFF2-40B4-BE49-F238E27FC236}">
                <a16:creationId xmlns:a16="http://schemas.microsoft.com/office/drawing/2014/main" id="{D0753C1F-333C-477B-851E-B894DE14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71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ata-label-2">
            <a:extLst xmlns:a="http://schemas.openxmlformats.org/drawingml/2006/main">
              <a:ext uri="{FF2B5EF4-FFF2-40B4-BE49-F238E27FC236}">
                <a16:creationId xmlns:a16="http://schemas.microsoft.com/office/drawing/2014/main" id="{E539933C-FBBD-473F-85B8-58D75881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0997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A65"/>
                </a:solidFill>
              </a:defRPr>
            </a:pPr>
            <a:r>
              <a:rPr sz="975" b="1">
                <a:solidFill>
                  <a:srgbClr val="6F6A65"/>
                </a:solidFill>
              </a:rPr>
              <a:t>DATA / ACK</a:t>
            </a:r>
          </a:p>
        </p:txBody>
      </p:sp>
      <p:sp>
        <p:nvSpPr>
          <p:cNvPr id="29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271FFCF2-BFB5-4A47-9A27-FA7EC8D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188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412"/>
                </a:solidFill>
              </a:defRPr>
            </a:pPr>
            <a:r>
              <a:rPr sz="1875" b="1">
                <a:solidFill>
                  <a:srgbClr val="171412"/>
                </a:solidFill>
              </a:rPr>
              <a:t>같은 generation + seed + slot → 양쪽이 같은 채널을 독립 계산</a:t>
            </a:r>
          </a:p>
        </p:txBody>
      </p:sp>
      <p:sp>
        <p:nvSpPr>
          <p:cNvPr id="30" name="step-no-0">
            <a:extLst xmlns:a="http://schemas.openxmlformats.org/drawingml/2006/main">
              <a:ext uri="{FF2B5EF4-FFF2-40B4-BE49-F238E27FC236}">
                <a16:creationId xmlns:a16="http://schemas.microsoft.com/office/drawing/2014/main" id="{219F4EF6-A31E-4DDE-8FA7-356B3BEC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308"/>
                </a:solidFill>
              </a:defRPr>
            </a:pPr>
            <a:r>
              <a:rPr sz="1800" b="1">
                <a:solidFill>
                  <a:srgbClr val="C84308"/>
                </a:solidFill>
              </a:rPr>
              <a:t>01</a:t>
            </a:r>
          </a:p>
        </p:txBody>
      </p:sp>
      <p:sp>
        <p:nvSpPr>
          <p:cNvPr id="31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BB9EA58-AABD-46EA-BA16-8ECB112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67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SET_CONFIG</a:t>
            </a:r>
          </a:p>
        </p:txBody>
      </p:sp>
      <p:sp>
        <p:nvSpPr>
          <p:cNvPr id="32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7986AD2-1953-451A-ADED-DDA5FAD0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054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generation · seed</a:t>
            </a:r>
          </a:p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채널 수 · 슬롯 시간</a:t>
            </a:r>
          </a:p>
        </p:txBody>
      </p:sp>
      <p:sp>
        <p:nvSpPr>
          <p:cNvPr id="33" name="step-arrow-0-line">
            <a:extLst xmlns:a="http://schemas.openxmlformats.org/drawingml/2006/main">
              <a:ext uri="{FF2B5EF4-FFF2-40B4-BE49-F238E27FC236}">
                <a16:creationId xmlns:a16="http://schemas.microsoft.com/office/drawing/2014/main" id="{FC2CF0BC-F123-4FD8-B6DE-F848F9B6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43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ep-arrow-0-head">
            <a:extLst xmlns:a="http://schemas.openxmlformats.org/drawingml/2006/main">
              <a:ext uri="{FF2B5EF4-FFF2-40B4-BE49-F238E27FC236}">
                <a16:creationId xmlns:a16="http://schemas.microsoft.com/office/drawing/2014/main" id="{278E2B5A-B5C8-4162-AFB9-59F12A9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673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35" name="step-no-1">
            <a:extLst xmlns:a="http://schemas.openxmlformats.org/drawingml/2006/main">
              <a:ext uri="{FF2B5EF4-FFF2-40B4-BE49-F238E27FC236}">
                <a16:creationId xmlns:a16="http://schemas.microsoft.com/office/drawing/2014/main" id="{2191F89E-704B-4D4B-9BEF-80A35259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958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308"/>
                </a:solidFill>
              </a:defRPr>
            </a:pPr>
            <a:r>
              <a:rPr sz="1800" b="1">
                <a:solidFill>
                  <a:srgbClr val="C84308"/>
                </a:solidFill>
              </a:rPr>
              <a:t>02</a:t>
            </a:r>
          </a:p>
        </p:txBody>
      </p:sp>
      <p:sp>
        <p:nvSpPr>
          <p:cNvPr id="3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B912EB7-0784-4D7D-94F8-1AB6D4A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67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hop_sequence</a:t>
            </a:r>
          </a:p>
        </p:txBody>
      </p:sp>
      <p:sp>
        <p:nvSpPr>
          <p:cNvPr id="3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B003E80-7EAF-43D2-96AC-43D9218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054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xorshift32로</a:t>
            </a:r>
          </a:p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채널 permutation 생성</a:t>
            </a:r>
          </a:p>
        </p:txBody>
      </p:sp>
      <p:sp>
        <p:nvSpPr>
          <p:cNvPr id="38" name="step-arrow-1-line">
            <a:extLst xmlns:a="http://schemas.openxmlformats.org/drawingml/2006/main">
              <a:ext uri="{FF2B5EF4-FFF2-40B4-BE49-F238E27FC236}">
                <a16:creationId xmlns:a16="http://schemas.microsoft.com/office/drawing/2014/main" id="{BFF800BD-ABFE-4501-B69A-984AC1F6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43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tep-arrow-1-head">
            <a:extLst xmlns:a="http://schemas.openxmlformats.org/drawingml/2006/main">
              <a:ext uri="{FF2B5EF4-FFF2-40B4-BE49-F238E27FC236}">
                <a16:creationId xmlns:a16="http://schemas.microsoft.com/office/drawing/2014/main" id="{FA8C0A9D-2518-4600-9578-4DE60C3E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673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40" name="step-no-2">
            <a:extLst xmlns:a="http://schemas.openxmlformats.org/drawingml/2006/main">
              <a:ext uri="{FF2B5EF4-FFF2-40B4-BE49-F238E27FC236}">
                <a16:creationId xmlns:a16="http://schemas.microsoft.com/office/drawing/2014/main" id="{B5F747E0-DCD7-4FFD-BB3D-C51071CC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958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308"/>
                </a:solidFill>
              </a:defRPr>
            </a:pPr>
            <a:r>
              <a:rPr sz="1800" b="1">
                <a:solidFill>
                  <a:srgbClr val="C84308"/>
                </a:solidFill>
              </a:rPr>
              <a:t>03</a:t>
            </a:r>
          </a:p>
        </p:txBody>
      </p:sp>
      <p:sp>
        <p:nvSpPr>
          <p:cNvPr id="4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DE12543E-725F-4ED3-AC05-6A70774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67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hrtimer</a:t>
            </a:r>
          </a:p>
        </p:txBody>
      </p:sp>
      <p:sp>
        <p:nvSpPr>
          <p:cNvPr id="4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803E379-484D-4F58-87F3-8DFC15F8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054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다음 슬롯 경계</a:t>
            </a:r>
          </a:p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5ms 전에 worker 호출</a:t>
            </a:r>
          </a:p>
        </p:txBody>
      </p:sp>
      <p:sp>
        <p:nvSpPr>
          <p:cNvPr id="43" name="step-arrow-2-line">
            <a:extLst xmlns:a="http://schemas.openxmlformats.org/drawingml/2006/main">
              <a:ext uri="{FF2B5EF4-FFF2-40B4-BE49-F238E27FC236}">
                <a16:creationId xmlns:a16="http://schemas.microsoft.com/office/drawing/2014/main" id="{A6B45A3F-84B9-4C08-80B0-493C8E4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43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tep-arrow-2-head">
            <a:extLst xmlns:a="http://schemas.openxmlformats.org/drawingml/2006/main">
              <a:ext uri="{FF2B5EF4-FFF2-40B4-BE49-F238E27FC236}">
                <a16:creationId xmlns:a16="http://schemas.microsoft.com/office/drawing/2014/main" id="{078B35CC-D549-42E3-B6CC-29C56CF3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46735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solidFill>
              <a:srgbClr val="C84308"/>
            </a:solidFill>
            <a:prstDash val="solid"/>
          </a:ln>
        </p:spPr>
      </p:sp>
      <p:sp>
        <p:nvSpPr>
          <p:cNvPr id="45" name="step-no-3">
            <a:extLst xmlns:a="http://schemas.openxmlformats.org/drawingml/2006/main">
              <a:ext uri="{FF2B5EF4-FFF2-40B4-BE49-F238E27FC236}">
                <a16:creationId xmlns:a16="http://schemas.microsoft.com/office/drawing/2014/main" id="{C14F1CE2-6F00-488F-87B4-E9DA0F9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958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308"/>
                </a:solidFill>
              </a:defRPr>
            </a:pPr>
            <a:r>
              <a:rPr sz="1800" b="1">
                <a:solidFill>
                  <a:srgbClr val="C84308"/>
                </a:solidFill>
              </a:rPr>
              <a:t>04</a:t>
            </a:r>
          </a:p>
        </p:txBody>
      </p:sp>
      <p:sp>
        <p:nvSpPr>
          <p:cNvPr id="46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09F09DB0-C99A-4889-ABA8-B6854543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67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kthread worker</a:t>
            </a:r>
          </a:p>
        </p:txBody>
      </p:sp>
      <p:sp>
        <p:nvSpPr>
          <p:cNvPr id="47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C37B624-CF29-4DD8-B5EA-A48ED6C4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5054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CHANNR 변경 후</a:t>
            </a:r>
          </a:p>
          <a:p xmlns:a="http://schemas.openxmlformats.org/drawingml/2006/main">
            <a:pPr algn="l">
              <a:defRPr sz="1200" b="0">
                <a:solidFill>
                  <a:srgbClr val="6F6A65"/>
                </a:solidFill>
              </a:defRPr>
            </a:pPr>
            <a:r>
              <a:rPr sz="1200" b="0">
                <a:solidFill>
                  <a:srgbClr val="6F6A65"/>
                </a:solidFill>
              </a:rPr>
              <a:t>13-byte SYNC 송신</a:t>
            </a:r>
          </a:p>
        </p:txBody>
      </p:sp>
    </p:spTree>
    <p:extLst>
      <p:ext uri="{BB962C8B-B14F-4D97-AF65-F5344CB8AC3E}">
        <p14:creationId xmlns:p14="http://schemas.microsoft.com/office/powerpoint/2010/main" val="1360320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EDC0B6E1-AABD-4C00-9869-49FB5578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DEVICE DRIVER · TROUBLESHOOTING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D7F427-9509-413A-AF1F-C88A670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1188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1412"/>
                </a:solidFill>
              </a:defRPr>
            </a:pPr>
            <a:r>
              <a:rPr sz="3975" b="1">
                <a:solidFill>
                  <a:srgbClr val="171412"/>
                </a:solidFill>
              </a:rPr>
              <a:t>실기기 오류를 상태·동시성 문제로 좁혔다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85E1AD4-95F6-4B8B-A7F5-72B3912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948D"/>
                </a:solidFill>
              </a:defRPr>
            </a:pPr>
            <a:r>
              <a:rPr sz="1050" b="0">
                <a:solidFill>
                  <a:srgbClr val="9A948D"/>
                </a:solidFill>
              </a:rPr>
              <a:t>FHSS-OTA Radio · Device Driver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6D3187D-5673-45EE-B321-4F8FC26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48D"/>
                </a:solidFill>
              </a:defRPr>
            </a:pPr>
            <a:r>
              <a:rPr sz="1050" b="1">
                <a:solidFill>
                  <a:srgbClr val="9A948D"/>
                </a:solidFill>
              </a:rPr>
              <a:t>3</a:t>
            </a:r>
          </a:p>
        </p:txBody>
      </p:sp>
      <p:sp>
        <p:nvSpPr>
          <p:cNvPr id="5" name="th-problem">
            <a:extLst xmlns:a="http://schemas.openxmlformats.org/drawingml/2006/main">
              <a:ext uri="{FF2B5EF4-FFF2-40B4-BE49-F238E27FC236}">
                <a16:creationId xmlns:a16="http://schemas.microsoft.com/office/drawing/2014/main" id="{1615F153-E894-4947-A2CB-5D72B90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문제</a:t>
            </a:r>
          </a:p>
        </p:txBody>
      </p:sp>
      <p:sp>
        <p:nvSpPr>
          <p:cNvPr id="6" name="th-cause">
            <a:extLst xmlns:a="http://schemas.openxmlformats.org/drawingml/2006/main">
              <a:ext uri="{FF2B5EF4-FFF2-40B4-BE49-F238E27FC236}">
                <a16:creationId xmlns:a16="http://schemas.microsoft.com/office/drawing/2014/main" id="{F4A6E866-118E-40EC-9BC3-52268378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원인</a:t>
            </a:r>
          </a:p>
        </p:txBody>
      </p:sp>
      <p:sp>
        <p:nvSpPr>
          <p:cNvPr id="7" name="th-solution">
            <a:extLst xmlns:a="http://schemas.openxmlformats.org/drawingml/2006/main">
              <a:ext uri="{FF2B5EF4-FFF2-40B4-BE49-F238E27FC236}">
                <a16:creationId xmlns:a16="http://schemas.microsoft.com/office/drawing/2014/main" id="{7069AF77-5A59-4414-A279-D07BDC6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해결</a:t>
            </a:r>
          </a:p>
        </p:txBody>
      </p:sp>
      <p:sp>
        <p:nvSpPr>
          <p:cNvPr id="8" name="th-line">
            <a:extLst xmlns:a="http://schemas.openxmlformats.org/drawingml/2006/main">
              <a:ext uri="{FF2B5EF4-FFF2-40B4-BE49-F238E27FC236}">
                <a16:creationId xmlns:a16="http://schemas.microsoft.com/office/drawing/2014/main" id="{E8EDDC3A-5887-4A42-95C0-FE054C9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188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0">
            <a:extLst xmlns:a="http://schemas.openxmlformats.org/drawingml/2006/main">
              <a:ext uri="{FF2B5EF4-FFF2-40B4-BE49-F238E27FC236}">
                <a16:creationId xmlns:a16="http://schemas.microsoft.com/office/drawing/2014/main" id="{3DE34FC5-A70F-4C47-8510-D16F722A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수신이 완전히 멎음</a:t>
            </a:r>
          </a:p>
        </p:txBody>
      </p:sp>
      <p:sp>
        <p:nvSpPr>
          <p:cNvPr id="10" name="cause-0">
            <a:extLst xmlns:a="http://schemas.openxmlformats.org/drawingml/2006/main">
              <a:ext uri="{FF2B5EF4-FFF2-40B4-BE49-F238E27FC236}">
                <a16:creationId xmlns:a16="http://schemas.microsoft.com/office/drawing/2014/main" id="{76A02F79-1A60-467E-804F-92FD19C3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RX FIFO overflow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MARCSTATE=0x11</a:t>
            </a:r>
          </a:p>
        </p:txBody>
      </p:sp>
      <p:sp>
        <p:nvSpPr>
          <p:cNvPr id="11" name="solution-0">
            <a:extLst xmlns:a="http://schemas.openxmlformats.org/drawingml/2006/main">
              <a:ext uri="{FF2B5EF4-FFF2-40B4-BE49-F238E27FC236}">
                <a16:creationId xmlns:a16="http://schemas.microsoft.com/office/drawing/2014/main" id="{CC1BEC2E-0070-420B-A8F3-E454B93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IDLE → SFRX → SRX</a:t>
            </a:r>
          </a:p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자동 복구</a:t>
            </a:r>
          </a:p>
        </p:txBody>
      </p:sp>
      <p:sp>
        <p:nvSpPr>
          <p:cNvPr id="12" name="row-bg-1">
            <a:extLst xmlns:a="http://schemas.openxmlformats.org/drawingml/2006/main">
              <a:ext uri="{FF2B5EF4-FFF2-40B4-BE49-F238E27FC236}">
                <a16:creationId xmlns:a16="http://schemas.microsoft.com/office/drawing/2014/main" id="{10974469-34C9-4BFA-996A-509C4C9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2268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1">
            <a:extLst xmlns:a="http://schemas.openxmlformats.org/drawingml/2006/main">
              <a:ext uri="{FF2B5EF4-FFF2-40B4-BE49-F238E27FC236}">
                <a16:creationId xmlns:a16="http://schemas.microsoft.com/office/drawing/2014/main" id="{9D3744E2-F4F5-4F48-BE9B-D330251C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슬롯 1부터 SYNC 거부</a:t>
            </a:r>
          </a:p>
        </p:txBody>
      </p:sp>
      <p:sp>
        <p:nvSpPr>
          <p:cNvPr id="14" name="cause-1">
            <a:extLst xmlns:a="http://schemas.openxmlformats.org/drawingml/2006/main">
              <a:ext uri="{FF2B5EF4-FFF2-40B4-BE49-F238E27FC236}">
                <a16:creationId xmlns:a16="http://schemas.microsoft.com/office/drawing/2014/main" id="{67C75A93-B4BB-4662-84DD-908AC0E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hop_index 의미 불일치</a:t>
            </a:r>
          </a:p>
        </p:txBody>
      </p:sp>
      <p:sp>
        <p:nvSpPr>
          <p:cNvPr id="15" name="solution-1">
            <a:extLst xmlns:a="http://schemas.openxmlformats.org/drawingml/2006/main">
              <a:ext uri="{FF2B5EF4-FFF2-40B4-BE49-F238E27FC236}">
                <a16:creationId xmlns:a16="http://schemas.microsoft.com/office/drawing/2014/main" id="{9FC1E3E1-A692-46B8-AAB5-EA1F99B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실제 셔플 채널의</a:t>
            </a:r>
          </a:p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0-based index로 통일</a:t>
            </a:r>
          </a:p>
        </p:txBody>
      </p:sp>
      <p:sp>
        <p:nvSpPr>
          <p:cNvPr id="16" name="problem-2">
            <a:extLst xmlns:a="http://schemas.openxmlformats.org/drawingml/2006/main">
              <a:ext uri="{FF2B5EF4-FFF2-40B4-BE49-F238E27FC236}">
                <a16:creationId xmlns:a16="http://schemas.microsoft.com/office/drawing/2014/main" id="{C8732750-44A0-4B73-B2F0-90E0DE2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초기 동기 획득 실패</a:t>
            </a:r>
          </a:p>
        </p:txBody>
      </p:sp>
      <p:sp>
        <p:nvSpPr>
          <p:cNvPr id="17" name="cause-2">
            <a:extLst xmlns:a="http://schemas.openxmlformats.org/drawingml/2006/main">
              <a:ext uri="{FF2B5EF4-FFF2-40B4-BE49-F238E27FC236}">
                <a16:creationId xmlns:a16="http://schemas.microsoft.com/office/drawing/2014/main" id="{8DC1B352-C36E-4CB9-86ED-6FC9448D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같은 slot 0을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20ms 간격으로 3회 송신</a:t>
            </a:r>
          </a:p>
        </p:txBody>
      </p:sp>
      <p:sp>
        <p:nvSpPr>
          <p:cNvPr id="18" name="solution-2">
            <a:extLst xmlns:a="http://schemas.openxmlformats.org/drawingml/2006/main">
              <a:ext uri="{FF2B5EF4-FFF2-40B4-BE49-F238E27FC236}">
                <a16:creationId xmlns:a16="http://schemas.microsoft.com/office/drawing/2014/main" id="{43E3DE0C-0871-43AA-8A7E-F6A4648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실제 슬롯마다</a:t>
            </a:r>
          </a:p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SYNC 한 번 송신</a:t>
            </a:r>
          </a:p>
        </p:txBody>
      </p:sp>
      <p:sp>
        <p:nvSpPr>
          <p:cNvPr id="19" name="row-bg-3">
            <a:extLst xmlns:a="http://schemas.openxmlformats.org/drawingml/2006/main">
              <a:ext uri="{FF2B5EF4-FFF2-40B4-BE49-F238E27FC236}">
                <a16:creationId xmlns:a16="http://schemas.microsoft.com/office/drawing/2014/main" id="{6E718BBF-D007-413B-8C09-7E16883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2268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3">
            <a:extLst xmlns:a="http://schemas.openxmlformats.org/drawingml/2006/main">
              <a:ext uri="{FF2B5EF4-FFF2-40B4-BE49-F238E27FC236}">
                <a16:creationId xmlns:a16="http://schemas.microsoft.com/office/drawing/2014/main" id="{891B515B-77F4-42AD-A183-E233D49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OTA_DATA write 실패</a:t>
            </a:r>
          </a:p>
        </p:txBody>
      </p:sp>
      <p:sp>
        <p:nvSpPr>
          <p:cNvPr id="21" name="cause-3">
            <a:extLst xmlns:a="http://schemas.openxmlformats.org/drawingml/2006/main">
              <a:ext uri="{FF2B5EF4-FFF2-40B4-BE49-F238E27FC236}">
                <a16:creationId xmlns:a16="http://schemas.microsoft.com/office/drawing/2014/main" id="{05BD0E54-EA8B-4C44-871F-85E4620E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사용자 DATA와 내부</a:t>
            </a:r>
          </a:p>
          <a:p xmlns:a="http://schemas.openxmlformats.org/drawingml/2006/main">
            <a:pPr algn="l">
              <a:defRPr sz="1275" b="0">
                <a:solidFill>
                  <a:srgbClr val="6F6A65"/>
                </a:solidFill>
              </a:defRPr>
            </a:pPr>
            <a:r>
              <a:rPr sz="1275" b="0">
                <a:solidFill>
                  <a:srgbClr val="6F6A65"/>
                </a:solidFill>
              </a:rPr>
              <a:t>SYNC TX 충돌</a:t>
            </a:r>
          </a:p>
        </p:txBody>
      </p:sp>
      <p:sp>
        <p:nvSpPr>
          <p:cNvPr id="22" name="solution-3">
            <a:extLst xmlns:a="http://schemas.openxmlformats.org/drawingml/2006/main">
              <a:ext uri="{FF2B5EF4-FFF2-40B4-BE49-F238E27FC236}">
                <a16:creationId xmlns:a16="http://schemas.microsoft.com/office/drawing/2014/main" id="{9179100B-362E-4379-B42F-DDD666FA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864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tx_lock으로 송신 직렬화</a:t>
            </a:r>
          </a:p>
        </p:txBody>
      </p:sp>
      <p:sp>
        <p:nvSpPr>
          <p:cNvPr id="23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827B9A16-E4B6-4217-826D-04A3BA8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8F10A9F-4091-4154-B4A3-1C1035FB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151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308"/>
                </a:solidFill>
              </a:defRPr>
            </a:pPr>
            <a:r>
              <a:rPr sz="1275" b="1">
                <a:solidFill>
                  <a:srgbClr val="C84308"/>
                </a:solidFill>
              </a:rPr>
              <a:t>실기기 확인</a:t>
            </a:r>
          </a:p>
        </p:txBody>
      </p:sp>
      <p:sp>
        <p:nvSpPr>
          <p:cNvPr id="25" name="result-copy">
            <a:extLst xmlns:a="http://schemas.openxmlformats.org/drawingml/2006/main">
              <a:ext uri="{FF2B5EF4-FFF2-40B4-BE49-F238E27FC236}">
                <a16:creationId xmlns:a16="http://schemas.microsoft.com/office/drawing/2014/main" id="{F373ADD3-41A7-4B14-B6F6-868B9F7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5151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412"/>
                </a:solidFill>
              </a:defRPr>
            </a:pPr>
            <a:r>
              <a:rPr sz="1425" b="1">
                <a:solidFill>
                  <a:srgbClr val="171412"/>
                </a:solidFill>
              </a:rPr>
              <a:t>SYNC_ACQUIRED → TRACKING · 시간 오차 -22 ~ +18 us · 채널 1→7→6→5→3→2→8→4</a:t>
            </a:r>
          </a:p>
        </p:txBody>
      </p:sp>
    </p:spTree>
    <p:extLst>
      <p:ext uri="{BB962C8B-B14F-4D97-AF65-F5344CB8AC3E}">
        <p14:creationId xmlns:p14="http://schemas.microsoft.com/office/powerpoint/2010/main" val="1769315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2026-08-24T04:18:59.0250000Z</dcterms:created>
  <dcterms:modified xsi:type="dcterms:W3CDTF">2026-08-24T04:18:59.0250000Z</dcterms:modified>
</coreProperties>
</file>